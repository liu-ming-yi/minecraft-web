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Minecraft</c:v>
                </c:pt>
              </c:strCache>
            </c:strRef>
          </c:tx>
          <c:spPr>
            <a:solidFill>
              <a:srgbClr val="00D4AA"/>
            </a:solidFill>
            <a:ln w="25400" cap="flat">
              <a:solidFill>
                <a:srgbClr val="00D4A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建造</c:v>
                  </c:pt>
                  <c:pt idx="1">
                    <c:v>探索</c:v>
                  </c:pt>
                  <c:pt idx="2">
                    <c:v>戰鬥</c:v>
                  </c:pt>
                  <c:pt idx="3">
                    <c:v>社群</c:v>
                  </c:pt>
                  <c:pt idx="4">
                    <c:v>創意</c:v>
                  </c:pt>
                  <c:pt idx="5">
                    <c:v>新手友好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</c:v>
                </c:pt>
                <c:pt idx="1">
                  <c:v>90</c:v>
                </c:pt>
                <c:pt idx="2">
                  <c:v>65</c:v>
                </c:pt>
                <c:pt idx="3">
                  <c:v>85</c:v>
                </c:pt>
                <c:pt idx="4">
                  <c:v>95</c:v>
                </c:pt>
                <c:pt idx="5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Terraria</c:v>
                </c:pt>
              </c:strCache>
            </c:strRef>
          </c:tx>
          <c:spPr>
            <a:solidFill>
              <a:srgbClr val="FF6B35"/>
            </a:solidFill>
            <a:ln w="2540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建造</c:v>
                  </c:pt>
                  <c:pt idx="1">
                    <c:v>探索</c:v>
                  </c:pt>
                  <c:pt idx="2">
                    <c:v>戰鬥</c:v>
                  </c:pt>
                  <c:pt idx="3">
                    <c:v>社群</c:v>
                  </c:pt>
                  <c:pt idx="4">
                    <c:v>創意</c:v>
                  </c:pt>
                  <c:pt idx="5">
                    <c:v>新手友好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92</c:v>
                </c:pt>
                <c:pt idx="2">
                  <c:v>98</c:v>
                </c:pt>
                <c:pt idx="3">
                  <c:v>75</c:v>
                </c:pt>
                <c:pt idx="4">
                  <c:v>75</c:v>
                </c:pt>
                <c:pt idx="5">
                  <c:v>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Stardew Valley</c:v>
                </c:pt>
              </c:strCache>
            </c:strRef>
          </c:tx>
          <c:spPr>
            <a:solidFill>
              <a:srgbClr val="7BC8A4"/>
            </a:solidFill>
            <a:ln w="25400" cap="flat">
              <a:solidFill>
                <a:srgbClr val="7BC8A4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7BC8A4"/>
              </a:solidFill>
              <a:ln w="9525" cap="flat">
                <a:solidFill>
                  <a:srgbClr val="7BC8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建造</c:v>
                  </c:pt>
                  <c:pt idx="1">
                    <c:v>探索</c:v>
                  </c:pt>
                  <c:pt idx="2">
                    <c:v>戰鬥</c:v>
                  </c:pt>
                  <c:pt idx="3">
                    <c:v>社群</c:v>
                  </c:pt>
                  <c:pt idx="4">
                    <c:v>創意</c:v>
                  </c:pt>
                  <c:pt idx="5">
                    <c:v>新手友好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60</c:v>
                </c:pt>
                <c:pt idx="1">
                  <c:v>65</c:v>
                </c:pt>
                <c:pt idx="2">
                  <c:v>15</c:v>
                </c:pt>
                <c:pt idx="3">
                  <c:v>70</c:v>
                </c:pt>
                <c:pt idx="4">
                  <c:v>70</c:v>
                </c:pt>
                <c:pt idx="5">
                  <c:v>95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Roblox</c:v>
                </c:pt>
              </c:strCache>
            </c:strRef>
          </c:tx>
          <c:spPr>
            <a:solidFill>
              <a:srgbClr val="E84393"/>
            </a:solidFill>
            <a:ln w="25400" cap="flat">
              <a:solidFill>
                <a:srgbClr val="E84393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E84393"/>
              </a:solidFill>
              <a:ln w="9525" cap="flat">
                <a:solidFill>
                  <a:srgbClr val="E843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建造</c:v>
                  </c:pt>
                  <c:pt idx="1">
                    <c:v>探索</c:v>
                  </c:pt>
                  <c:pt idx="2">
                    <c:v>戰鬥</c:v>
                  </c:pt>
                  <c:pt idx="3">
                    <c:v>社群</c:v>
                  </c:pt>
                  <c:pt idx="4">
                    <c:v>創意</c:v>
                  </c:pt>
                  <c:pt idx="5">
                    <c:v>新手友好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75</c:v>
                </c:pt>
                <c:pt idx="1">
                  <c:v>60</c:v>
                </c:pt>
                <c:pt idx="2">
                  <c:v>55</c:v>
                </c:pt>
                <c:pt idx="3">
                  <c:v>98</c:v>
                </c:pt>
                <c:pt idx="4">
                  <c:v>90</c:v>
                </c:pt>
                <c:pt idx="5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A0A0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2E"/>
    </a:solidFill>
    <a:ln w="12700" cap="flat">
      <a:solidFill>
        <a:srgbClr val="1A1A2E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6459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2011680"/>
            <a:ext cx="164592" cy="164592"/>
          </a:xfrm>
          <a:prstGeom prst="rect">
            <a:avLst/>
          </a:prstGeom>
          <a:solidFill>
            <a:srgbClr val="7BC8A4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548640"/>
            <a:ext cx="164592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1371600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2286000"/>
            <a:ext cx="164592" cy="1645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389120"/>
            <a:ext cx="164592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4114800"/>
            <a:ext cx="164592" cy="164592"/>
          </a:xfrm>
          <a:prstGeom prst="rect">
            <a:avLst/>
          </a:prstGeom>
          <a:solidFill>
            <a:srgbClr val="7BC8A4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71600"/>
            <a:ext cx="36576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1371600"/>
            <a:ext cx="36576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1371600"/>
            <a:ext cx="36576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371600"/>
            <a:ext cx="36576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1371600"/>
            <a:ext cx="36576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371600"/>
            <a:ext cx="36576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67344" y="1371600"/>
            <a:ext cx="36576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0768" y="1371600"/>
            <a:ext cx="36576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1371600"/>
            <a:ext cx="36576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1371600"/>
            <a:ext cx="36576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沙盒遊戲大比拼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GAME COMPARISON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20040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200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Minecraft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320040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200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Terraria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20040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7BC8A4">
              <a:alpha val="80000"/>
            </a:srgbClr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200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Stardew Valley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320040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E84393">
              <a:alpha val="80000"/>
            </a:srgbClr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200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Roblox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</a:rPr>
              <a:t>探索四款頂尖沙盒遊戲的差異與特色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遊戲基本介紹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00D4AA"/>
                </a:solidFill>
              </a:rPr>
              <a:t>GAME OVERVIEW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Minecraft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</a:rPr>
              <a:t>2011  •  Mojang Studios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731520" cy="201168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013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</a:rPr>
              <a:t>全平台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130552"/>
            <a:ext cx="1828800" cy="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40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</a:rPr>
              <a:t>史上最暢銷遊戲，以像素方塊建造與探索為核心，擁有無限的創意空間。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960120"/>
            <a:ext cx="201168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960120"/>
            <a:ext cx="20116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Terraria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1460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</a:rPr>
              <a:t>2011  •  Re-Logic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14600" y="1801368"/>
            <a:ext cx="731520" cy="201168"/>
          </a:xfrm>
          <a:prstGeom prst="rect">
            <a:avLst/>
          </a:prstGeom>
          <a:solidFill>
            <a:srgbClr val="FF6B35">
              <a:alpha val="3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8013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</a:rPr>
              <a:t>全平台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14600" y="2130552"/>
            <a:ext cx="1828800" cy="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240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</a:rPr>
              <a:t>2D 橫向捲軸沙盒，融合 RPG 與建造元素，Boss 戰鬥深度極高。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960120"/>
            <a:ext cx="201168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960120"/>
            <a:ext cx="2011680" cy="73152"/>
          </a:xfrm>
          <a:prstGeom prst="rect">
            <a:avLst/>
          </a:prstGeom>
          <a:solidFill>
            <a:srgbClr val="7BC8A4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C8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Stardew Valley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</a:rPr>
              <a:t>2016  •  ConcernedApe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9160" y="1801368"/>
            <a:ext cx="731520" cy="201168"/>
          </a:xfrm>
          <a:prstGeom prst="rect">
            <a:avLst/>
          </a:prstGeom>
          <a:solidFill>
            <a:srgbClr val="7BC8A4">
              <a:alpha val="30000"/>
            </a:srgbClr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8013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C8A4"/>
                </a:solidFill>
              </a:rPr>
              <a:t>全平台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2130552"/>
            <a:ext cx="1828800" cy="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240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</a:rPr>
              <a:t>農場經營沙盒，以鄉村生活、種植、釣魚、社交為核心玩法。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960120"/>
            <a:ext cx="201168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960120"/>
            <a:ext cx="2011680" cy="7315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Roblox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0B8"/>
                </a:solidFill>
              </a:rPr>
              <a:t>2006  •  Roblox Corporation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03720" y="1801368"/>
            <a:ext cx="731520" cy="201168"/>
          </a:xfrm>
          <a:prstGeom prst="rect">
            <a:avLst/>
          </a:prstGeom>
          <a:solidFill>
            <a:srgbClr val="E84393">
              <a:alpha val="30000"/>
            </a:srgbClr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18013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393"/>
                </a:solidFill>
              </a:rPr>
              <a:t>全平台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03720" y="2130552"/>
            <a:ext cx="1828800" cy="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2240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</a:rPr>
              <a:t>使用者生成內容平台，提供數百萬款玩家自製遊戲，適合各年齡層。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特色比較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00D4AA"/>
                </a:solidFill>
              </a:rPr>
              <a:t>FEATURE COMPARISON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1828800" cy="384048"/>
          </a:xfrm>
          <a:prstGeom prst="rect">
            <a:avLst/>
          </a:prstGeom>
          <a:solidFill>
            <a:srgbClr val="16213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比較項目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914400"/>
            <a:ext cx="1828800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9144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Minecraft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914400"/>
            <a:ext cx="169164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9144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Terraria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914400"/>
            <a:ext cx="1828800" cy="384048"/>
          </a:xfrm>
          <a:prstGeom prst="rect">
            <a:avLst/>
          </a:prstGeom>
          <a:solidFill>
            <a:srgbClr val="7BC8A4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144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Stardew Valley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914400"/>
            <a:ext cx="1691640" cy="384048"/>
          </a:xfrm>
          <a:prstGeom prst="rect">
            <a:avLst/>
          </a:prstGeom>
          <a:solidFill>
            <a:srgbClr val="E84393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91440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Roblox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1298448"/>
            <a:ext cx="18288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2984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遊戲視角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57400" y="1298448"/>
            <a:ext cx="18288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12984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第一/第三人稱 3D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86200" y="1298448"/>
            <a:ext cx="16916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2984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2D 橫向捲軸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1298448"/>
            <a:ext cx="18288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2984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2D 俯視角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1298448"/>
            <a:ext cx="16916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2984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3D（依遊戲）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1755648"/>
            <a:ext cx="18288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7556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建造系統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57400" y="1755648"/>
            <a:ext cx="182880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17556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⭐⭐⭐⭐⭐ 方塊建造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86200" y="1755648"/>
            <a:ext cx="169164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 2D 建造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1755648"/>
            <a:ext cx="182880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17556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 農場建設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1755648"/>
            <a:ext cx="169164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 腳本建造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2212848"/>
            <a:ext cx="18288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2128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戰鬥系統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057400" y="2212848"/>
            <a:ext cx="18288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22128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 基礎戰鬥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86200" y="2212848"/>
            <a:ext cx="16916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⭐⭐⭐⭐⭐ 深度Boss戰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77840" y="2212848"/>
            <a:ext cx="18288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22128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 幾乎無戰鬥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06640" y="2212848"/>
            <a:ext cx="16916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 依遊戲模式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2670048"/>
            <a:ext cx="18288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6700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多人遊戲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057400" y="2670048"/>
            <a:ext cx="182880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0" y="26700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 伺服器/局域網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886200" y="2670048"/>
            <a:ext cx="169164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31920" y="26700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 多人合作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77840" y="2670048"/>
            <a:ext cx="182880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23560" y="26700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 多人農場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06640" y="2670048"/>
            <a:ext cx="169164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26700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⭐⭐⭐⭐⭐ 大型社群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8600" y="3127248"/>
            <a:ext cx="18288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1272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生存/探索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057400" y="3127248"/>
            <a:ext cx="18288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03120" y="31272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⭐⭐⭐⭐⭐ 核心玩法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886200" y="3127248"/>
            <a:ext cx="16916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0" y="31272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⭐⭐⭐⭐⭐ 地下探索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77840" y="3127248"/>
            <a:ext cx="18288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23560" y="31272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 礦洞探索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406640" y="3127248"/>
            <a:ext cx="16916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52360" y="31272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 依遊戲而定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28600" y="3584448"/>
            <a:ext cx="18288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5844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創意自由度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057400" y="3584448"/>
            <a:ext cx="182880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03120" y="35844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⭐⭐⭐⭐⭐ 極高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886200" y="3584448"/>
            <a:ext cx="169164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31920" y="35844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 高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77840" y="3584448"/>
            <a:ext cx="182880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23560" y="35844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 農場自訂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406640" y="3584448"/>
            <a:ext cx="169164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52360" y="35844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⭐⭐⭐⭐⭐ 可程式化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28600" y="4041648"/>
            <a:ext cx="18288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0416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上手難度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057400" y="4041648"/>
            <a:ext cx="18288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03120" y="40416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低－中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886200" y="4041648"/>
            <a:ext cx="16916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0" y="40416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中－高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577840" y="4041648"/>
            <a:ext cx="18288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23560" y="40416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低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406640" y="4041648"/>
            <a:ext cx="16916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52360" y="40416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低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28600" y="4498848"/>
            <a:ext cx="182880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44988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價格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2057400" y="4498848"/>
            <a:ext cx="182880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03120" y="44988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約 NT$560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886200" y="4498848"/>
            <a:ext cx="169164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931920" y="44988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約 NT$120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577840" y="4498848"/>
            <a:ext cx="182880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23560" y="44988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約 NT$200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406640" y="4498848"/>
            <a:ext cx="1691640" cy="457200"/>
          </a:xfrm>
          <a:prstGeom prst="rect">
            <a:avLst/>
          </a:prstGeom>
          <a:solidFill>
            <a:srgbClr val="111126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452360" y="449884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免費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能力雷達分析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00D4AA"/>
                </a:solidFill>
              </a:rPr>
              <a:t>RADAR ANALYSIS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914400"/>
          <a:ext cx="8229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誰適合玩？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00D4AA"/>
                </a:solidFill>
              </a:rPr>
              <a:t>WHO SHOULD PLAY?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Minecraft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527048"/>
            <a:ext cx="1828800" cy="274320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52704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👥 創意玩家 / 全家同樂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1828800" cy="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75688"/>
            <a:ext cx="109728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喜歡自由建造大型建築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109728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7004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享受與朋友一起探索冒險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92424"/>
            <a:ext cx="109728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2841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適合親子同樂的入門遊戲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50792"/>
            <a:ext cx="109728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86784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喜歡 Mod 擴充無限可能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04872" y="960120"/>
            <a:ext cx="201168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04872" y="960120"/>
            <a:ext cx="20116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Terraria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496312" y="1527048"/>
            <a:ext cx="1828800" cy="274320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152704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👥 動作 RPG 玩家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96312" y="1947672"/>
            <a:ext cx="1828800" cy="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42032" y="2075688"/>
            <a:ext cx="109728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熱愛挑戰高難度 Boss 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42032" y="2734056"/>
            <a:ext cx="109728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4912" y="267004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享受豐富的武器與裝備收集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42032" y="3392424"/>
            <a:ext cx="109728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24912" y="332841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喜歡地下探索與隱藏內容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42032" y="4050792"/>
            <a:ext cx="109728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4912" y="3986784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Steam 上評價最高的遊戲之一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81144" y="960120"/>
            <a:ext cx="201168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81144" y="960120"/>
            <a:ext cx="2011680" cy="73152"/>
          </a:xfrm>
          <a:prstGeom prst="rect">
            <a:avLst/>
          </a:prstGeom>
          <a:solidFill>
            <a:srgbClr val="7BC8A4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72584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C8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Stardew Valley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672584" y="1527048"/>
            <a:ext cx="1828800" cy="274320"/>
          </a:xfrm>
          <a:prstGeom prst="rect">
            <a:avLst/>
          </a:prstGeom>
          <a:solidFill>
            <a:srgbClr val="7BC8A4">
              <a:alpha val="25000"/>
            </a:srgbClr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152704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👥 休閒 / 輕度玩家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72584" y="1947672"/>
            <a:ext cx="1828800" cy="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18304" y="2075688"/>
            <a:ext cx="109728" cy="109728"/>
          </a:xfrm>
          <a:prstGeom prst="rect">
            <a:avLst/>
          </a:prstGeom>
          <a:solidFill>
            <a:srgbClr val="7BC8A4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偏好輕鬆無壓力的遊戲節奏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18304" y="2734056"/>
            <a:ext cx="109728" cy="109728"/>
          </a:xfrm>
          <a:prstGeom prst="rect">
            <a:avLst/>
          </a:prstGeom>
          <a:solidFill>
            <a:srgbClr val="7BC8A4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267004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喜歡農場經營與角色互動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18304" y="3392424"/>
            <a:ext cx="109728" cy="109728"/>
          </a:xfrm>
          <a:prstGeom prst="rect">
            <a:avLst/>
          </a:prstGeom>
          <a:solidFill>
            <a:srgbClr val="7BC8A4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332841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享受四季變化與節日活動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18304" y="4050792"/>
            <a:ext cx="109728" cy="109728"/>
          </a:xfrm>
          <a:prstGeom prst="rect">
            <a:avLst/>
          </a:prstGeom>
          <a:solidFill>
            <a:srgbClr val="7BC8A4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01184" y="3986784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適合睡前短時間遊玩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57416" y="960120"/>
            <a:ext cx="2011680" cy="3749040"/>
          </a:xfrm>
          <a:prstGeom prst="rect">
            <a:avLst/>
          </a:prstGeom>
          <a:solidFill>
            <a:srgbClr val="1A1A2E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57416" y="960120"/>
            <a:ext cx="2011680" cy="7315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48856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Roblox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848856" y="1527048"/>
            <a:ext cx="1828800" cy="274320"/>
          </a:xfrm>
          <a:prstGeom prst="rect">
            <a:avLst/>
          </a:prstGeom>
          <a:solidFill>
            <a:srgbClr val="E84393">
              <a:alpha val="25000"/>
            </a:srgbClr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152704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👥 社群 / 創作玩家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48856" y="1947672"/>
            <a:ext cx="1828800" cy="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94576" y="2075688"/>
            <a:ext cx="109728" cy="10972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77456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想自己製作並發布遊戲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94576" y="2734056"/>
            <a:ext cx="109728" cy="10972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77456" y="267004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喜歡與大量玩家互動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94576" y="3392424"/>
            <a:ext cx="109728" cy="10972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77456" y="332841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適合兒童及青少年族群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94576" y="4050792"/>
            <a:ext cx="109728" cy="10972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77456" y="3986784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多元遊戲類型一次滿足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總結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00D4AA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92024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最佳建造體驗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Minecraft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192024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005840"/>
            <a:ext cx="19202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⚔️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50592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最佳戰鬥深度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Terraria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192024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005840"/>
            <a:ext cx="1920240" cy="54864"/>
          </a:xfrm>
          <a:prstGeom prst="rect">
            <a:avLst/>
          </a:prstGeom>
          <a:solidFill>
            <a:srgbClr val="7BC8A4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26864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最佳休閒體驗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C8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Stardew Valley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03136" y="1005840"/>
            <a:ext cx="192024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1005840"/>
            <a:ext cx="1920240" cy="54864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03136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</a:rPr>
              <a:t>最佳社群平台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3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Roblox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2606040"/>
            <a:ext cx="8595360" cy="457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最終建議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74320" y="3218688"/>
            <a:ext cx="109728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17296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8"/>
                </a:solidFill>
              </a:rPr>
              <a:t>想體驗最完整的沙盒世界？首選 Minecraft，擁有龐大社群與無限創意空間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109728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118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8"/>
                </a:solidFill>
              </a:rPr>
              <a:t>追求深度遊戲內容？Terraria 以超高 CP 值與豐富 Boss 戰帶來長達數百小時的樂趣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096512"/>
            <a:ext cx="109728" cy="201168"/>
          </a:xfrm>
          <a:prstGeom prst="rect">
            <a:avLst/>
          </a:prstGeom>
          <a:solidFill>
            <a:srgbClr val="7BC8A4"/>
          </a:solidFill>
          <a:ln w="12700">
            <a:solidFill>
              <a:srgbClr val="7BC8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0507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8"/>
                </a:solidFill>
              </a:rPr>
              <a:t>需要放鬆減壓？Stardew Valley 是最溫柔的沙盒，帶你享受寧靜的農村生活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535424"/>
            <a:ext cx="109728" cy="20116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48970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8"/>
                </a:solidFill>
              </a:rPr>
              <a:t>想與朋友一起創作？Roblox 平台免費，社群龐大，創作潛力無限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沙盒遊戲比較</dc:title>
  <dc:subject>PptxGenJS Presentation</dc:subject>
  <dc:creator>PptxGenJS</dc:creator>
  <cp:lastModifiedBy>PptxGenJS</cp:lastModifiedBy>
  <cp:revision>1</cp:revision>
  <dcterms:created xsi:type="dcterms:W3CDTF">2026-05-27T03:35:48Z</dcterms:created>
  <dcterms:modified xsi:type="dcterms:W3CDTF">2026-05-27T03:35:48Z</dcterms:modified>
</cp:coreProperties>
</file>